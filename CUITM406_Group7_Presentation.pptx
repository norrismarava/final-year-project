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</p:sldMasterIdLst>
  <p:notesMasterIdLst>
    <p:notesMasterId r:id="rId57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360" y="812520"/>
            <a:ext cx="712692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ZW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ZW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97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ZW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98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ZW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99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21D146BD-3107-411A-A00E-9AC37B70532C}" type="slidenum">
              <a:rPr lang="en-ZW" sz="1400" b="0" strike="noStrike" spc="-1">
                <a:latin typeface="Times New Roman"/>
              </a:rPr>
              <a:t>‹#›</a:t>
            </a:fld>
            <a:endParaRPr lang="en-ZW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Introduce the group and the topic: how do we keep a distributed hospital system alive when servers crash, links drop and power fails?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One minute overview. Emphasise the marking areas: concepts, mechanisms, the Zimbabwean case study, and honest evaluation of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Section opener - 10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Key distinction to state out loud: fault is the cause, error is the wrong state, failure is the visible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Tolerance = stopping the chain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Three fault classes by duration.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Five failure types by behaviour - from least to most severe.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Highest-impact fault class for financial and hospital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Section opener - 10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Walk the list; stress that every mechanism has a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honesty about cost is what the rubric calls critical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Four related properties - define each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trap students fall into. Give the counterexample.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Four definitions; the worked example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Do the arithmetic live: A = MTTF / (MTTF + MTTR).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Reality check on cost per nine.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Section opener - 10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Ground the theory: Zimbabwe-specific faults are power and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Define the goal - graceful degradation of everything except the clinical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Talk through the diagram left to right: clients, proxy pair, hot standby app server, replicated DB; then the foundation row: power, dual ISPs, off-site replica.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matrix ties parts A and B together: each fault class gets a detection method, an automatic response and a recovery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Critical evaluation of the design: nothing here is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biggest risk is a plan that is never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Markers reward trade-off analysis. Own the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Partition conflicts, BFT overkill, the honest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Close by restating the thesis: break the chain, spend the budget where downtime hurts most, rehearse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Invite questions. Cost questions: back to the "What it costs" slides; mechanism questions: back to the techniques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1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1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1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ZW" sz="4400" b="0" strike="noStrike" spc="-1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ZW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heme" Target="../theme/theme2.xml"/><Relationship Id="rId14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theme" Target="../theme/theme3.xml"/><Relationship Id="rId14" Type="http://schemas.openxmlformats.org/officeDocument/2006/relationships/image" Target="../media/image2.jpe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0.xml"/><Relationship Id="rId5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8.xml"/><Relationship Id="rId13" Type="http://schemas.openxmlformats.org/officeDocument/2006/relationships/theme" Target="../theme/theme4.xml"/><Relationship Id="rId14" Type="http://schemas.openxmlformats.org/officeDocument/2006/relationships/image" Target="../media/image3.jpe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theme" Target="../theme/theme5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23760" y="63000"/>
            <a:ext cx="8399520" cy="1154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ustomShape 1" hidden="1"/>
          <p:cNvSpPr/>
          <p:nvPr/>
        </p:nvSpPr>
        <p:spPr>
          <a:xfrm>
            <a:off x="251640" y="360"/>
            <a:ext cx="9575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5294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923760" y="63000"/>
            <a:ext cx="8399520" cy="1154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ustomShape 1"/>
          <p:cNvSpPr/>
          <p:nvPr/>
        </p:nvSpPr>
        <p:spPr>
          <a:xfrm>
            <a:off x="251640" y="360"/>
            <a:ext cx="9575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5294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8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CustomShape 1" hidden="1"/>
          <p:cNvSpPr/>
          <p:nvPr/>
        </p:nvSpPr>
        <p:spPr>
          <a:xfrm>
            <a:off x="251640" y="360"/>
            <a:ext cx="9575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5294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251640" y="360"/>
            <a:ext cx="9575280" cy="566928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5294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923760" y="63000"/>
            <a:ext cx="8399520" cy="1154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ZW" sz="18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157" name="PlaceHolder 3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ZW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ZW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01568" y="822960"/>
            <a:ext cx="6309360" cy="310896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000" b="0" i="0" spc="-1">
                <a:solidFill>
                  <a:srgbClr val="374C81"/>
                </a:solidFill>
                <a:latin typeface="Century Gothic"/>
              </a:rPr>
              <a:t>FAULT TOLERANCE, RELIABILITY AND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65576" y="4023360"/>
            <a:ext cx="6217920" cy="13716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buNone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CUITM406 Distributed Systems</a:t>
            </a:r>
          </a:p>
          <a:p>
            <a:pPr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Group 7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GROUP 7 MEMBERS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419976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Marava Norris  (C23153769A)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Mbiriri Keanne T  (C23153814H)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Magwati Tinomudaishe E  (C23154896K)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Zarima Tanatswa  (C23154405Q)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Ncube Kelvin  (C23155074X)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3520" y="1406880"/>
            <a:ext cx="419976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Nzawanga Musa  (C23153759C)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Mapuranga Shadreck  (C23153651Q)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Zvinzveku Prince  (C23154325J)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Mutambaneshiri Kelly R  (C23154083S)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Nemadziva Janety T  (C22152405X)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Part A - The vocabulary of failure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Fault, error and failure; fault classes; Byzantine faults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Part B - The tools and the metrics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Six techniques; the four properties; MTBF, MTTR and the "nines"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Part C - Putting it to work in Zimbabwe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A fault-tolerance strategy for a provincial hospital system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What it costs and what it cannot fix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Critical evaluation,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395728"/>
            <a:ext cx="5943600" cy="1252728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800" b="1" i="0" spc="-1">
                <a:solidFill>
                  <a:srgbClr val="374C81"/>
                </a:solidFill>
                <a:latin typeface="Century Gothic"/>
              </a:rPr>
              <a:t>PART A: THE VOCABULARY OF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3675887"/>
            <a:ext cx="5943600" cy="1591056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Fault, error and failure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The fault-error-failure chain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Classifying faults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Types of failure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Byzantine faults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FAULT, ERROR AND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Fault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root cause. A defect waiting to happen: a burnt chip, a software bug, a loose cable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Error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internal state is now wrong. The defect has been triggered: bad data in memory, a lost message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Failure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system no longer delivers its promised service: the queue screen freezes, the payment never arrives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3600" b="0" i="0" spc="-1">
                <a:solidFill>
                  <a:srgbClr val="374C81"/>
                </a:solidFill>
                <a:latin typeface="Century Gothic"/>
              </a:rPr>
              <a:t>THE FAULT-ERROR-FAILURE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A fault that is activated produces an error; an error that reaches the user becomes a failure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Hospital example: a failing hard drive (fault) corrupts a patient record in memory (error) and the registration desk is shown wrong details or nothing at all (failure)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Fault tolerance is the art of breaking this chain - catching the error before it becomes a failure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No system is 100% fault tolerant; the goal is to make failures rare, short and survivable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CLASSIFYING 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Transient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occurs once, then disappears. Example: a cosmic ray flips a memory bit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Intermittent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comes and goes and is hard to diagnose. Example: a loose network cable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Permanent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stays until the component is repaired or replaced. Example: a dead disk, a burnt power supply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TYPES OF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Crash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server halts, but was correct until it stopped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Omission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server never replies to a valid request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Timing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reply arrives too late (or too early)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Response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the server gives the wrong answer or the wrong state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Byzantine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arbitrary or malicious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BYZANTINE FAULTS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Named after the Byzantine Generals problem: components do not just stop - they lie. A compromised server could confirm a payment it never made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With unsigned messages, agreement needs n ≥ 3m + 1 nodes to outvote m traitors. With three replicas, one liar already breaks consensus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Why it matters locally: an insider altering fee balances or drug-stock records is a Byzantine fault, not a crash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Redundancy alone cannot fix it - we need verification and audit trails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395728"/>
            <a:ext cx="5943600" cy="1252728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800" b="1" i="0" spc="-1">
                <a:solidFill>
                  <a:srgbClr val="374C81"/>
                </a:solidFill>
                <a:latin typeface="Century Gothic"/>
              </a:rPr>
              <a:t>PART B: THE TOOLS AND THE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3675887"/>
            <a:ext cx="5943600" cy="1591056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Fault-tolerance techniques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Reliability, availability and maintainability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MTTF, MTTR, MTBF and availability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The "nines" of availability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FAULT-TOLERANCE TECHNIQUES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Redundancy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spare capacity: extra hardware (physical), extra data (information) or repeated work (time)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duplicate hardware and more administration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Replication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copies of data or services on different nodes; if one dies, another serves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keeping the copies consistent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Failover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heartbeats and timeouts detect a dead node and switch clients to a standby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standby capacity plus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TECHNIQUES CONT'D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Checkpointing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save a consistent snapshot periodically; on crash, roll back to the last good state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I/O overhead; work since the snapshot is lost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Retries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re-issue a failed request after a delay; defeats transient network faults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duplicates if the "failed" request actually ran</a:t>
            </a:r>
          </a:p>
          <a:p>
            <a:pPr marL="304920" indent="-304200">
              <a:lnSpc>
                <a:spcPct val="95000"/>
              </a:lnSpc>
              <a:spcBef>
                <a:spcPts val="1400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Graceful degradation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drop optional features under stress instead of dying completely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800" b="0" i="0" spc="-1">
                <a:solidFill>
                  <a:srgbClr val="374C81"/>
                </a:solidFill>
                <a:latin typeface="Century Gothic"/>
              </a:rPr>
              <a:t>Cost: users get a reduced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THE FOUR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Reliability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can it run correctly for a long time without failing? Measured by how often failures occur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Availability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is it ready when someone needs it right now? Measured by uptime percentage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Maintainability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how quickly and cheaply can it be repaired and returned to service?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Fault tolerance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does it keep working, perhaps degraded, even while part of it has failed?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RELATED, BUT NOT EQUAL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0" i="0" spc="-1">
                <a:solidFill>
                  <a:srgbClr val="374C81"/>
                </a:solidFill>
                <a:latin typeface="Century Gothic"/>
              </a:rPr>
              <a:t>A system can be highly reliable yet poorly available: it fails rarely, but takes a week to repair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0" i="0" spc="-1">
                <a:solidFill>
                  <a:srgbClr val="374C81"/>
                </a:solidFill>
                <a:latin typeface="Century Gothic"/>
              </a:rPr>
              <a:t>A system can be highly available even though its components fail often, because failover brings it back in seconds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0" i="0" spc="-1">
                <a:solidFill>
                  <a:srgbClr val="374C81"/>
                </a:solidFill>
                <a:latin typeface="Century Gothic"/>
              </a:rPr>
              <a:t>The trap: using "reliability" and "availability" interchangeably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MEASURING UPTIME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MTTF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Mean Time To Failure: average up-time between failures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MTTR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- Mean Time To Repair: average down-time per failure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MTBF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= MTTF + MTTR: mean time from one failure to the next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400" b="1" i="0" spc="-1">
                <a:solidFill>
                  <a:srgbClr val="374C81"/>
                </a:solidFill>
                <a:latin typeface="Century Gothic"/>
              </a:rPr>
              <a:t>Availability</a:t>
            </a:r>
            <a:r>
              <a:rPr sz="2400" b="0" i="0" spc="-1">
                <a:solidFill>
                  <a:srgbClr val="374C81"/>
                </a:solidFill>
                <a:latin typeface="Century Gothic"/>
              </a:rPr>
              <a:t> A = MTTF / MTBF: the fraction of time the service is usable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3600" b="0" i="0" spc="-1">
                <a:solidFill>
                  <a:srgbClr val="374C81"/>
                </a:solidFill>
                <a:latin typeface="Century Gothic"/>
              </a:rPr>
              <a:t>WORKED EXAMPLE: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MTTF = 2,000 hours, MTTR = 4 hours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A = 2,000 / (2,000 + 4) = 99.8%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That is about 17 hours of downtime a year - unacceptable for casualty registration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To raise A, either fail less (raise MTTF) or recover faster (cut MTTR)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Failover attacks MTTR directly - usually cheaper than buying ultra-reliable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3600" b="0" i="0" spc="-1">
                <a:solidFill>
                  <a:srgbClr val="374C81"/>
                </a:solidFill>
                <a:latin typeface="Century Gothic"/>
              </a:rPr>
              <a:t>THE "NINES" OF AVAILABILITY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23544" y="1417320"/>
          <a:ext cx="4572000" cy="2057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77440"/>
                <a:gridCol w="219456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Availability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Downtime per year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99.0%  (two nines)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3.65 days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99.9%  (three nines)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8.8 hours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99.99%  (four nines)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53 minutes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5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99.999%  (five nines)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5.3 minutes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60720" y="1371600"/>
            <a:ext cx="3749039" cy="329184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Each extra nine costs multiples of the last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A provincial hospital must choose where a nine is worth paying for: triage screens yes, the staff lunch menu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395728"/>
            <a:ext cx="5943600" cy="1252728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800" b="1" i="0" spc="-1">
                <a:solidFill>
                  <a:srgbClr val="374C81"/>
                </a:solidFill>
                <a:latin typeface="Century Gothic"/>
              </a:rPr>
              <a:t>PART C: PUTTING IT TO WORK IN ZIMBABWE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3675887"/>
            <a:ext cx="5943600" cy="1591056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Case study: a provincial hospital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Design goal and strategy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Proposed fault-tolerant architecture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What happens when something fails</a:t>
            </a:r>
          </a:p>
          <a:p>
            <a:pPr>
              <a:lnSpc>
                <a:spcPct val="90000"/>
              </a:lnSpc>
              <a:buNone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* What it costs, and what it cannot fix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CASE STUDY: THE HOSPITAL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A distributed hospital information system serving registration, triage, pharmacy, laboratory and records - across wards that cannot all afford servers, fibre or air-conditioning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Power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load-shedding and brownouts: the mains can drop for hours, daily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Connectivity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fibre cuts, congested VSAT links, expensive mobile data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Hardware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ageing machines; heat and dust shorten component life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Stakes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a frozen triage screen or a lost result is a patient-safety issue, not an inconvenience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DESIGN GOAL AND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Goal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core clinical work (register, triage, call, dispense) must continue on the hospital LAN even when the internet or the mains are down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1" i="0" spc="-1">
                <a:solidFill>
                  <a:srgbClr val="374C81"/>
                </a:solidFill>
                <a:latin typeface="Century Gothic"/>
              </a:rPr>
              <a:t>Strategy</a:t>
            </a:r>
            <a:r>
              <a:rPr sz="2200" b="0" i="0" spc="-1">
                <a:solidFill>
                  <a:srgbClr val="374C81"/>
                </a:solidFill>
                <a:latin typeface="Century Gothic"/>
              </a:rPr>
              <a:t> - redundancy for the server, replication for the data, graceful degradation for the workflow, and a disaster-recovery plan for the day everything else fails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Everything except the clinical core is allowed to degrade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3600" b="0" i="0" spc="-1">
                <a:solidFill>
                  <a:srgbClr val="374C81"/>
                </a:solidFill>
                <a:latin typeface="Century Gothic"/>
              </a:rPr>
              <a:t>FAULT-TOLERANT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488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Ward clients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desktops, kiosks, 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0" y="21488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LAN load balancer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reverse-proxy pair</a:t>
            </a:r>
          </a:p>
        </p:txBody>
      </p:sp>
      <p:sp>
        <p:nvSpPr>
          <p:cNvPr id="5" name="Rectangle 4"/>
          <p:cNvSpPr/>
          <p:nvPr/>
        </p:nvSpPr>
        <p:spPr>
          <a:xfrm>
            <a:off x="4983480" y="14630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App server A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primary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0" y="28346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App server B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hot standby</a:t>
            </a:r>
          </a:p>
        </p:txBody>
      </p:sp>
      <p:sp>
        <p:nvSpPr>
          <p:cNvPr id="7" name="Rectangle 6"/>
          <p:cNvSpPr/>
          <p:nvPr/>
        </p:nvSpPr>
        <p:spPr>
          <a:xfrm>
            <a:off x="7040880" y="14630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Database primary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+ local backup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834640"/>
            <a:ext cx="1600200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Database replica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synchronous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514600"/>
            <a:ext cx="457200" cy="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526280" y="1828800"/>
            <a:ext cx="457200" cy="68580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526280" y="2514600"/>
            <a:ext cx="457200" cy="68580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1828800"/>
            <a:ext cx="457200" cy="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3200400"/>
            <a:ext cx="457200" cy="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840979" y="2194560"/>
            <a:ext cx="0" cy="640080"/>
          </a:xfrm>
          <a:prstGeom prst="line">
            <a:avLst/>
          </a:prstGeom>
          <a:ln w="15875">
            <a:solidFill>
              <a:srgbClr val="374C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09560" y="2212848"/>
            <a:ext cx="1463040" cy="32004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buNone/>
            </a:pPr>
            <a:r>
              <a:rPr sz="1100" b="0" i="1" spc="-1">
                <a:solidFill>
                  <a:srgbClr val="374C81"/>
                </a:solidFill>
                <a:latin typeface="Century Gothic"/>
              </a:rPr>
              <a:t>replication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1737360" cy="82296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Offline mode: clients queue work locally and sync when the link returns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069080"/>
            <a:ext cx="25146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Power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UPS + generator / solar for the server room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069080"/>
            <a:ext cx="25146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Connectivity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ISP 1 (fibre) with failover to ISP 2 (LTE)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069080"/>
            <a:ext cx="2514600" cy="685800"/>
          </a:xfrm>
          <a:prstGeom prst="rect">
            <a:avLst/>
          </a:prstGeom>
          <a:solidFill>
            <a:srgbClr val="FFFFFF"/>
          </a:solidFill>
          <a:ln w="15875">
            <a:solidFill>
              <a:srgbClr val="374C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90000"/>
              </a:lnSpc>
              <a:buNone/>
            </a:pPr>
            <a:r>
              <a:rPr sz="1200" b="1" i="0" spc="-1">
                <a:solidFill>
                  <a:srgbClr val="374C81"/>
                </a:solidFill>
                <a:latin typeface="Century Gothic"/>
              </a:rPr>
              <a:t>Off-site</a:t>
            </a:r>
          </a:p>
          <a:p>
            <a:pPr algn="ctr">
              <a:lnSpc>
                <a:spcPct val="90000"/>
              </a:lnSpc>
              <a:buNone/>
            </a:pPr>
            <a:r>
              <a:rPr sz="1000" b="0" i="0" spc="-1">
                <a:solidFill>
                  <a:srgbClr val="374C81"/>
                </a:solidFill>
                <a:latin typeface="Century Gothic"/>
              </a:rPr>
              <a:t>replica in Harare + nightly encrypted backup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FAILURE RESPONSE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8823960" cy="31089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00200"/>
                <a:gridCol w="2377440"/>
                <a:gridCol w="2468880"/>
                <a:gridCol w="237744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Failure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Detect it with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Automatic response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FFFFFF"/>
                          </a:solidFill>
                          <a:latin typeface="Century Gothic"/>
                        </a:rPr>
                        <a:t>Recovery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374C8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App server crash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Heartbeats and timeouts between proxy and server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Failover to the standby in seconds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Restart from last checkpoint; replay message log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Network / WAN cut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Failed acknowledgements; loss of route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Switch to ISP 2; core LAN work continues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Queued messages auto-retry (15 s, 60 s, 5 min)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Power outage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UPS signals mains failure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UPS rides the gap; generator starts; non-essential nodes sleep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Graceful shutdown if outage outlasts backup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200" b="1" i="0" spc="-1">
                          <a:solidFill>
                            <a:srgbClr val="374C81"/>
                          </a:solidFill>
                          <a:latin typeface="Century Gothic"/>
                        </a:rPr>
                        <a:t>Data corruption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Checksums, hash-chained audit log, replica divergence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Serve from replica; block the bad node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 spc="-1">
                          <a:solidFill>
                            <a:srgbClr val="374C81"/>
                          </a:solidFill>
                          <a:latin typeface="Century Gothic"/>
                        </a:rPr>
                        <a:t>Restore from checkpoint; reconcile replica</a:t>
                      </a:r>
                    </a:p>
                  </a:txBody>
                  <a:tcPr marL="91440" marR="91440" marT="36576" marB="36576" anchor="ctr">
                    <a:lnB w="9525">
                      <a:solidFill>
                        <a:srgbClr val="374C81"/>
                      </a:solidFill>
                    </a:lnB>
                    <a:lnT w="9525">
                      <a:solidFill>
                        <a:srgbClr val="374C81"/>
                      </a:solidFill>
                    </a:lnT>
                    <a:lnR w="9525">
                      <a:solidFill>
                        <a:srgbClr val="374C81"/>
                      </a:solidFill>
                    </a:lnR>
                    <a:lnL w="9525">
                      <a:solidFill>
                        <a:srgbClr val="374C81"/>
                      </a:solidFill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617720"/>
            <a:ext cx="8823960" cy="4572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buNone/>
            </a:pPr>
            <a:r>
              <a:rPr sz="1400" b="0" i="1" spc="-1">
                <a:solidFill>
                  <a:srgbClr val="374C81"/>
                </a:solidFill>
                <a:latin typeface="Century Gothic"/>
              </a:rPr>
              <a:t>Every row follows the five-phase pattern from the module: detection, diagnosis, evidence, assessment,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WHAT IT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Backup power (UPS + generator)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rides through load-shedding; clean shutdown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700" b="0" i="0" spc="-1">
                <a:solidFill>
                  <a:srgbClr val="374C81"/>
                </a:solidFill>
                <a:latin typeface="Century Gothic"/>
              </a:rPr>
              <a:t>Diesel or solar capex, fuel and maintenance; generators fail too; batteries age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Offline-first operation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work continues with no internet at all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700" b="0" i="0" spc="-1">
                <a:solidFill>
                  <a:srgbClr val="374C81"/>
                </a:solidFill>
                <a:latin typeface="Century Gothic"/>
              </a:rPr>
              <a:t>Conflicts to merge on reconnect; harder software design; stale reference data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Redundant connectivity (two ISPs)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survives a single fibre or LTE failure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700" b="0" i="0" spc="-1">
                <a:solidFill>
                  <a:srgbClr val="374C81"/>
                </a:solidFill>
                <a:latin typeface="Century Gothic"/>
              </a:rPr>
              <a:t>Two bills every month; both ISPs may share the same trench or tower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WHAT IT COSTS CONT'D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Geographically separated backups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survive fire or theft at the hospital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700" b="0" i="0" spc="-1">
                <a:solidFill>
                  <a:srgbClr val="374C81"/>
                </a:solidFill>
                <a:latin typeface="Century Gothic"/>
              </a:rPr>
              <a:t>Bandwidth cost to Harare; RPO gap - up to 15 minutes of data can still be lost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1" i="0" spc="-1">
                <a:solidFill>
                  <a:srgbClr val="374C81"/>
                </a:solidFill>
                <a:latin typeface="Century Gothic"/>
              </a:rPr>
              <a:t>Disaster recovery plan</a:t>
            </a:r>
            <a:r>
              <a:rPr sz="2000" b="0" i="0" spc="-1">
                <a:solidFill>
                  <a:srgbClr val="374C81"/>
                </a:solidFill>
                <a:latin typeface="Century Gothic"/>
              </a:rPr>
              <a:t> - a defined rebuild: people, steps, spares</a:t>
            </a:r>
          </a:p>
          <a:p>
            <a:pPr marL="731520" indent="-304200" lvl="1">
              <a:lnSpc>
                <a:spcPct val="95000"/>
              </a:lnSpc>
              <a:spcBef>
                <a:spcPts val="1066"/>
              </a:spcBef>
              <a:buClr>
                <a:srgbClr val="374C81"/>
              </a:buClr>
              <a:buFont typeface="Century Gothic"/>
              <a:buChar char="–"/>
            </a:pPr>
            <a:r>
              <a:rPr sz="1700" b="0" i="0" spc="-1">
                <a:solidFill>
                  <a:srgbClr val="374C81"/>
                </a:solidFill>
                <a:latin typeface="Century Gothic"/>
              </a:rPr>
              <a:t>Only as good as the last tested drill; documentation rots if unrehearsed</a:t>
            </a:r>
          </a:p>
          <a:p>
            <a:pPr marL="304920" indent="-304200">
              <a:lnSpc>
                <a:spcPct val="95000"/>
              </a:lnSpc>
              <a:spcBef>
                <a:spcPts val="1200"/>
              </a:spcBef>
              <a:buClr>
                <a:srgbClr val="374C81"/>
              </a:buClr>
              <a:buFont typeface="Arial"/>
              <a:buChar char="•"/>
            </a:pPr>
            <a:r>
              <a:rPr sz="2000" b="0" i="0" spc="-1">
                <a:solidFill>
                  <a:srgbClr val="374C81"/>
                </a:solidFill>
                <a:latin typeface="Century Gothic"/>
              </a:rPr>
              <a:t>Nothing here is free - and the single biggest risk is a recovery plan that has never been tested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CRITICAL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Redundancy fights hardware faults but does nothing for software bugs - the same bug runs on both servers. Diverse replication helps, but is costly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Checkpointing bounds data loss at the checkpoint interval - every minute of safety is paid for in I/O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Retries heal transient faults yet create duplicates - so every operation must be idempotent or carry a unique transaction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CRITICAL EVALUATION CONT'D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Offline operation is the single highest-value feature in Zimbabwe - and the hardest to get right, because two sites can both be "right" and disagree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Full Byzantine fault tolerance is overkill for one hospital - detection plus audit trails usually beats n ≥ 3m + 1 consensus at this scale</a:t>
            </a:r>
          </a:p>
          <a:p>
            <a:pPr marL="304920" indent="-304200">
              <a:lnSpc>
                <a:spcPct val="95000"/>
              </a:lnSpc>
              <a:spcBef>
                <a:spcPts val="1864"/>
              </a:spcBef>
              <a:buClr>
                <a:srgbClr val="374C81"/>
              </a:buClr>
              <a:buFont typeface="Arial"/>
              <a:buChar char="•"/>
            </a:pPr>
            <a:r>
              <a:rPr sz="2200" b="0" i="0" spc="-1">
                <a:solidFill>
                  <a:srgbClr val="374C81"/>
                </a:solidFill>
                <a:latin typeface="Century Gothic"/>
              </a:rPr>
              <a:t>The honest ceiling: budget, skills and power infrastructure cap how many "nines" the hospital can actually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100"/>
              </a:spcBef>
              <a:buClr>
                <a:srgbClr val="374C81"/>
              </a:buClr>
              <a:buFont typeface="Arial"/>
              <a:buChar char="•"/>
            </a:pPr>
            <a:r>
              <a:rPr sz="1900" b="0" i="0" spc="-1">
                <a:solidFill>
                  <a:srgbClr val="374C81"/>
                </a:solidFill>
                <a:latin typeface="Century Gothic"/>
              </a:rPr>
              <a:t>A fault is a cause, an error is a bad state, a failure is what the user sees - fault tolerance means breaking that chain</a:t>
            </a:r>
          </a:p>
          <a:p>
            <a:pPr marL="304920" indent="-304200">
              <a:lnSpc>
                <a:spcPct val="95000"/>
              </a:lnSpc>
              <a:spcBef>
                <a:spcPts val="1100"/>
              </a:spcBef>
              <a:buClr>
                <a:srgbClr val="374C81"/>
              </a:buClr>
              <a:buFont typeface="Arial"/>
              <a:buChar char="•"/>
            </a:pPr>
            <a:r>
              <a:rPr sz="1900" b="0" i="0" spc="-1">
                <a:solidFill>
                  <a:srgbClr val="374C81"/>
                </a:solidFill>
                <a:latin typeface="Century Gothic"/>
              </a:rPr>
              <a:t>The toolbox is redundancy, replication, failover, checkpointing, retries and graceful degradation - each with a price tag</a:t>
            </a:r>
          </a:p>
          <a:p>
            <a:pPr marL="304920" indent="-304200">
              <a:lnSpc>
                <a:spcPct val="95000"/>
              </a:lnSpc>
              <a:spcBef>
                <a:spcPts val="1100"/>
              </a:spcBef>
              <a:buClr>
                <a:srgbClr val="374C81"/>
              </a:buClr>
              <a:buFont typeface="Arial"/>
              <a:buChar char="•"/>
            </a:pPr>
            <a:r>
              <a:rPr sz="1900" b="0" i="0" spc="-1">
                <a:solidFill>
                  <a:srgbClr val="374C81"/>
                </a:solidFill>
                <a:latin typeface="Century Gothic"/>
              </a:rPr>
              <a:t>Reliability, availability, maintainability and fault tolerance are different targets; MTBF, MTTR and availability tell us how well we hit them</a:t>
            </a:r>
          </a:p>
          <a:p>
            <a:pPr marL="304920" indent="-304200">
              <a:lnSpc>
                <a:spcPct val="95000"/>
              </a:lnSpc>
              <a:spcBef>
                <a:spcPts val="1100"/>
              </a:spcBef>
              <a:buClr>
                <a:srgbClr val="374C81"/>
              </a:buClr>
              <a:buFont typeface="Arial"/>
              <a:buChar char="•"/>
            </a:pPr>
            <a:r>
              <a:rPr sz="1900" b="0" i="0" spc="-1">
                <a:solidFill>
                  <a:srgbClr val="374C81"/>
                </a:solidFill>
                <a:latin typeface="Century Gothic"/>
              </a:rPr>
              <a:t>For a Zimbabwean hospital the winning design is boring on purpose: a hot standby, a replicated database, two ISPs, backup power, offline operation and a rehearsed recovery plan</a:t>
            </a:r>
          </a:p>
          <a:p>
            <a:pPr marL="304920" indent="-304200">
              <a:lnSpc>
                <a:spcPct val="95000"/>
              </a:lnSpc>
              <a:spcBef>
                <a:spcPts val="1100"/>
              </a:spcBef>
              <a:buClr>
                <a:srgbClr val="374C81"/>
              </a:buClr>
              <a:buFont typeface="Arial"/>
              <a:buChar char="•"/>
            </a:pPr>
            <a:r>
              <a:rPr sz="1900" b="0" i="0" spc="-1">
                <a:solidFill>
                  <a:srgbClr val="374C81"/>
                </a:solidFill>
                <a:latin typeface="Century Gothic"/>
              </a:rPr>
              <a:t>Perfect fault tolerance is impossible - the engineering question is which failures are worth paying to survive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23760" y="63000"/>
            <a:ext cx="8399520" cy="115452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23760" y="1406880"/>
            <a:ext cx="8399520" cy="369540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 marL="304920" indent="-304200">
              <a:lnSpc>
                <a:spcPct val="95000"/>
              </a:lnSpc>
              <a:spcBef>
                <a:spcPts val="1000"/>
              </a:spcBef>
              <a:buClr>
                <a:srgbClr val="374C81"/>
              </a:buClr>
              <a:buFont typeface="Arial"/>
              <a:buChar char="•"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Coulouris, G., Dollimore, J., Kindberg, T. and Blair, G. (2012) Distributed Systems: Concepts and Design. 5th edn. Pearson.</a:t>
            </a:r>
          </a:p>
          <a:p>
            <a:pPr marL="304920" indent="-304200">
              <a:lnSpc>
                <a:spcPct val="95000"/>
              </a:lnSpc>
              <a:spcBef>
                <a:spcPts val="1000"/>
              </a:spcBef>
              <a:buClr>
                <a:srgbClr val="374C81"/>
              </a:buClr>
              <a:buFont typeface="Arial"/>
              <a:buChar char="•"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Tanenbaum, A.S. and van Steen, M. (2017) Distributed Systems. 3rd edn.</a:t>
            </a:r>
          </a:p>
          <a:p>
            <a:pPr marL="304920" indent="-304200">
              <a:lnSpc>
                <a:spcPct val="95000"/>
              </a:lnSpc>
              <a:spcBef>
                <a:spcPts val="1000"/>
              </a:spcBef>
              <a:buClr>
                <a:srgbClr val="374C81"/>
              </a:buClr>
              <a:buFont typeface="Arial"/>
              <a:buChar char="•"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Lamport, L., Shostak, R. and Pease, M. (1982) "The Byzantine Generals Problem", ACM Transactions on Programming Languages and Systems, 4(3), pp. 382-401.</a:t>
            </a:r>
          </a:p>
          <a:p>
            <a:pPr marL="304920" indent="-304200">
              <a:lnSpc>
                <a:spcPct val="95000"/>
              </a:lnSpc>
              <a:spcBef>
                <a:spcPts val="1000"/>
              </a:spcBef>
              <a:buClr>
                <a:srgbClr val="374C81"/>
              </a:buClr>
              <a:buFont typeface="Arial"/>
              <a:buChar char="•"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Avizienis, A., Laprie, J.-C., Randell, B. and Landwehr, C. (2004) "Basic Concepts and Taxonomy of Dependable and Secure Computing", IEEE Transactions on Dependable and Secure Computing, 1(1), pp. 11-33.</a:t>
            </a:r>
          </a:p>
          <a:p>
            <a:pPr marL="304920" indent="-304200">
              <a:lnSpc>
                <a:spcPct val="95000"/>
              </a:lnSpc>
              <a:spcBef>
                <a:spcPts val="1000"/>
              </a:spcBef>
              <a:buClr>
                <a:srgbClr val="374C81"/>
              </a:buClr>
              <a:buFont typeface="Arial"/>
              <a:buChar char="•"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CUITM406 Distributed Systems lecture notes (2026), Lecture 7: Fault Tolerance. Chinhoyi University of Technology.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7800" y="5292000"/>
            <a:ext cx="915120" cy="264600"/>
          </a:xfrm>
          <a:prstGeom prst="rect">
            <a:avLst/>
          </a:prstGeom>
          <a:noFill/>
        </p:spPr>
        <p:txBody>
          <a:bodyPr wrap="none" lIns="122040" tIns="60840" rIns="122040" bIns="60840" anchor="b">
            <a:spAutoFit/>
          </a:bodyPr>
          <a:lstStyle/>
          <a:p>
            <a:pPr algn="r"/>
            <a:fld id="{26B7FBC0-90D7-43A1-9DD3-FB7487A9384F}" type="slidenum">
              <a:rPr lang="en-US" sz="1200" b="0" spc="-1">
                <a:solidFill>
                  <a:srgbClr val="595959"/>
                </a:solidFill>
                <a:latin typeface="Century Gothic"/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2103120"/>
            <a:ext cx="5943600" cy="1280160"/>
          </a:xfrm>
          <a:prstGeom prst="rect">
            <a:avLst/>
          </a:prstGeom>
          <a:noFill/>
        </p:spPr>
        <p:txBody>
          <a:bodyPr wrap="square" lIns="122040" tIns="60840" rIns="122040" bIns="60840" anchor="b">
            <a:spAutoFit/>
          </a:bodyPr>
          <a:lstStyle/>
          <a:p>
            <a:pPr>
              <a:lnSpc>
                <a:spcPct val="85000"/>
              </a:lnSpc>
              <a:buNone/>
            </a:pPr>
            <a:r>
              <a:rPr sz="4400" b="0" i="0" spc="-1">
                <a:solidFill>
                  <a:srgbClr val="374C81"/>
                </a:solidFill>
                <a:latin typeface="Century Gothic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3429000"/>
            <a:ext cx="5943600" cy="1463040"/>
          </a:xfrm>
          <a:prstGeom prst="rect">
            <a:avLst/>
          </a:prstGeom>
          <a:noFill/>
        </p:spPr>
        <p:txBody>
          <a:bodyPr wrap="square" lIns="122040" tIns="60840" rIns="122040" bIns="60840">
            <a:spAutoFit/>
          </a:bodyPr>
          <a:lstStyle/>
          <a:p>
            <a:pPr>
              <a:buNone/>
            </a:pPr>
            <a:r>
              <a:rPr sz="2800" b="1" i="0" spc="-1">
                <a:solidFill>
                  <a:srgbClr val="374C81"/>
                </a:solidFill>
                <a:latin typeface="Century Gothic"/>
              </a:rPr>
              <a:t>Questions?</a:t>
            </a:r>
          </a:p>
          <a:p>
            <a:pPr>
              <a:spcBef>
                <a:spcPts val="1000"/>
              </a:spcBef>
              <a:buNone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Group 7  -  Fault Tolerance, Reliability and Availability</a:t>
            </a:r>
          </a:p>
          <a:p>
            <a:pPr>
              <a:buNone/>
            </a:pPr>
            <a:r>
              <a:rPr sz="1600" b="0" i="0" spc="-1">
                <a:solidFill>
                  <a:srgbClr val="374C81"/>
                </a:solidFill>
                <a:latin typeface="Century Gothic"/>
              </a:rPr>
              <a:t>CUITM406 Distributed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1056</TotalTime>
  <Words>3471</Words>
  <Application>Microsoft Office PowerPoint</Application>
  <PresentationFormat>Custom</PresentationFormat>
  <Paragraphs>372</Paragraphs>
  <Slides>51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51</vt:i4>
      </vt:variant>
    </vt:vector>
  </HeadingPairs>
  <TitlesOfParts>
    <vt:vector size="66" baseType="lpstr">
      <vt:lpstr>Arial</vt:lpstr>
      <vt:lpstr>Century Gothic</vt:lpstr>
      <vt:lpstr>Courier New</vt:lpstr>
      <vt:lpstr>DejaVu Sans</vt:lpstr>
      <vt:lpstr>Noto Sans CJK SC</vt:lpstr>
      <vt:lpstr>PMingLiU</vt:lpstr>
      <vt:lpstr>Symbol</vt:lpstr>
      <vt:lpstr>Times New Roman</vt:lpstr>
      <vt:lpstr>Wingdings</vt:lpstr>
      <vt:lpstr>Wingdings 2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Nobuhle Zinyengere</dc:creator>
  <dc:description/>
  <cp:lastModifiedBy>Justin Makota</cp:lastModifiedBy>
  <cp:revision>14</cp:revision>
  <dcterms:created xsi:type="dcterms:W3CDTF">2021-01-18T11:36:49Z</dcterms:created>
  <dcterms:modified xsi:type="dcterms:W3CDTF">2025-03-21T20:03:39Z</dcterms:modified>
  <dc:language>en-ZW</dc:language>
</cp:coreProperties>
</file>